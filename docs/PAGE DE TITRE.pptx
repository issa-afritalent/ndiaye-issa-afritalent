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1F4DC-FA8E-44E5-967C-2D950A0D347B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752F5-C908-4E70-B7BE-3B71B021276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29905303"/>
      </p:ext>
    </p:extLst>
  </p:cSld>
  <p:clrMapOvr>
    <a:masterClrMapping/>
  </p:clrMapOvr>
  <p:transition spd="slow" advClick="0" advTm="5000">
    <p:wheel spokes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1F4DC-FA8E-44E5-967C-2D950A0D347B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752F5-C908-4E70-B7BE-3B71B021276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01352426"/>
      </p:ext>
    </p:extLst>
  </p:cSld>
  <p:clrMapOvr>
    <a:masterClrMapping/>
  </p:clrMapOvr>
  <p:transition spd="slow" advClick="0" advTm="5000">
    <p:wheel spokes="1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1F4DC-FA8E-44E5-967C-2D950A0D347B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752F5-C908-4E70-B7BE-3B71B021276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68401362"/>
      </p:ext>
    </p:extLst>
  </p:cSld>
  <p:clrMapOvr>
    <a:masterClrMapping/>
  </p:clrMapOvr>
  <p:transition spd="slow" advClick="0" advTm="5000">
    <p:wheel spokes="1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1F4DC-FA8E-44E5-967C-2D950A0D347B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752F5-C908-4E70-B7BE-3B71B021276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7549635"/>
      </p:ext>
    </p:extLst>
  </p:cSld>
  <p:clrMapOvr>
    <a:masterClrMapping/>
  </p:clrMapOvr>
  <p:transition spd="slow" advClick="0" advTm="5000">
    <p:wheel spokes="1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1F4DC-FA8E-44E5-967C-2D950A0D347B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752F5-C908-4E70-B7BE-3B71B021276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95980498"/>
      </p:ext>
    </p:extLst>
  </p:cSld>
  <p:clrMapOvr>
    <a:masterClrMapping/>
  </p:clrMapOvr>
  <p:transition spd="slow" advClick="0" advTm="5000">
    <p:wheel spokes="1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1F4DC-FA8E-44E5-967C-2D950A0D347B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752F5-C908-4E70-B7BE-3B71B021276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20402893"/>
      </p:ext>
    </p:extLst>
  </p:cSld>
  <p:clrMapOvr>
    <a:masterClrMapping/>
  </p:clrMapOvr>
  <p:transition spd="slow" advClick="0" advTm="5000">
    <p:wheel spokes="1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1F4DC-FA8E-44E5-967C-2D950A0D347B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752F5-C908-4E70-B7BE-3B71B021276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86463287"/>
      </p:ext>
    </p:extLst>
  </p:cSld>
  <p:clrMapOvr>
    <a:masterClrMapping/>
  </p:clrMapOvr>
  <p:transition spd="slow" advClick="0" advTm="5000">
    <p:wheel spokes="1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1F4DC-FA8E-44E5-967C-2D950A0D347B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752F5-C908-4E70-B7BE-3B71B021276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83197064"/>
      </p:ext>
    </p:extLst>
  </p:cSld>
  <p:clrMapOvr>
    <a:masterClrMapping/>
  </p:clrMapOvr>
  <p:transition spd="slow" advClick="0" advTm="5000">
    <p:wheel spokes="1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1F4DC-FA8E-44E5-967C-2D950A0D347B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752F5-C908-4E70-B7BE-3B71B021276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64895200"/>
      </p:ext>
    </p:extLst>
  </p:cSld>
  <p:clrMapOvr>
    <a:masterClrMapping/>
  </p:clrMapOvr>
  <p:transition spd="slow" advClick="0" advTm="5000">
    <p:wheel spokes="1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1F4DC-FA8E-44E5-967C-2D950A0D347B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752F5-C908-4E70-B7BE-3B71B021276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27662946"/>
      </p:ext>
    </p:extLst>
  </p:cSld>
  <p:clrMapOvr>
    <a:masterClrMapping/>
  </p:clrMapOvr>
  <p:transition spd="slow" advClick="0" advTm="5000">
    <p:wheel spokes="1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1F4DC-FA8E-44E5-967C-2D950A0D347B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752F5-C908-4E70-B7BE-3B71B021276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80894765"/>
      </p:ext>
    </p:extLst>
  </p:cSld>
  <p:clrMapOvr>
    <a:masterClrMapping/>
  </p:clrMapOvr>
  <p:transition spd="slow" advClick="0" advTm="5000">
    <p:wheel spokes="1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A1F4DC-FA8E-44E5-967C-2D950A0D347B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D752F5-C908-4E70-B7BE-3B71B021276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33195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 advClick="0" advTm="5000">
    <p:wheel spokes="1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i="1" dirty="0">
                <a:latin typeface="Algerian" panose="04020705040A02060702" pitchFamily="82" charset="0"/>
              </a:rPr>
              <a:t/>
            </a:r>
            <a:br>
              <a:rPr lang="en-US" i="1" dirty="0">
                <a:latin typeface="Algerian" panose="04020705040A02060702" pitchFamily="82" charset="0"/>
              </a:rPr>
            </a:br>
            <a:r>
              <a:rPr lang="en-US" i="1" dirty="0" smtClean="0">
                <a:latin typeface="Algerian" panose="04020705040A02060702" pitchFamily="82" charset="0"/>
              </a:rPr>
              <a:t>AFRITALENT</a:t>
            </a:r>
            <a:r>
              <a:rPr lang="fr-FR" i="1" dirty="0">
                <a:latin typeface="Algerian" panose="04020705040A02060702" pitchFamily="82" charset="0"/>
              </a:rPr>
              <a:t/>
            </a:r>
            <a:br>
              <a:rPr lang="fr-FR" i="1" dirty="0">
                <a:latin typeface="Algerian" panose="04020705040A02060702" pitchFamily="82" charset="0"/>
              </a:rPr>
            </a:br>
            <a:endParaRPr lang="fr-FR" i="1" dirty="0">
              <a:latin typeface="Algerian" panose="04020705040A02060702" pitchFamily="82" charset="0"/>
            </a:endParaRP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82597" y="3413501"/>
            <a:ext cx="9144000" cy="1655762"/>
          </a:xfrm>
        </p:spPr>
        <p:txBody>
          <a:bodyPr/>
          <a:lstStyle/>
          <a:p>
            <a:r>
              <a:rPr lang="en-US" b="1" i="1" dirty="0" smtClean="0">
                <a:latin typeface="Algerian" panose="04020705040A02060702" pitchFamily="82" charset="0"/>
              </a:rPr>
              <a:t>NOM: ISSA NDIAYE</a:t>
            </a:r>
          </a:p>
          <a:p>
            <a:r>
              <a:rPr lang="en-US" b="1" i="1" dirty="0" smtClean="0">
                <a:latin typeface="Algerian" panose="04020705040A02060702" pitchFamily="82" charset="0"/>
              </a:rPr>
              <a:t>CLASSE: L1 IAGE</a:t>
            </a:r>
          </a:p>
          <a:p>
            <a:r>
              <a:rPr lang="en-US" b="1" i="1" dirty="0" smtClean="0">
                <a:latin typeface="Algerian" panose="04020705040A02060702" pitchFamily="82" charset="0"/>
              </a:rPr>
              <a:t>DATE: 24 /06/2026</a:t>
            </a:r>
            <a:endParaRPr lang="fr-FR" b="1" i="1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5814354"/>
      </p:ext>
    </p:extLst>
  </p:cSld>
  <p:clrMapOvr>
    <a:masterClrMapping/>
  </p:clrMapOvr>
  <p:transition spd="slow" advClick="0" advTm="5000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71341" y="1709739"/>
            <a:ext cx="10876110" cy="467854"/>
          </a:xfrm>
        </p:spPr>
        <p:txBody>
          <a:bodyPr>
            <a:normAutofit fontScale="90000"/>
          </a:bodyPr>
          <a:lstStyle/>
          <a:p>
            <a:r>
              <a:rPr lang="en-US" b="1" i="1" dirty="0" smtClean="0">
                <a:latin typeface="Algerian" panose="04020705040A02060702" pitchFamily="82" charset="0"/>
              </a:rPr>
              <a:t>SOMMAIRE</a:t>
            </a:r>
            <a:endParaRPr lang="fr-FR" b="1" i="1" dirty="0">
              <a:latin typeface="Algerian" panose="04020705040A02060702" pitchFamily="82" charset="0"/>
            </a:endParaRP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" y="2384982"/>
            <a:ext cx="11347450" cy="4854804"/>
          </a:xfrm>
        </p:spPr>
        <p:txBody>
          <a:bodyPr>
            <a:normAutofit fontScale="92500" lnSpcReduction="20000"/>
          </a:bodyPr>
          <a:lstStyle/>
          <a:p>
            <a:pPr marL="342900" indent="-342900">
              <a:buFontTx/>
              <a:buChar char="-"/>
            </a:pPr>
            <a:r>
              <a:rPr lang="en-US" sz="2900" b="1" i="1" dirty="0" smtClean="0">
                <a:latin typeface="Algerian" panose="04020705040A02060702" pitchFamily="82" charset="0"/>
              </a:rPr>
              <a:t>PRESENTATION DU PROJET</a:t>
            </a:r>
          </a:p>
          <a:p>
            <a:pPr marL="342900" indent="-342900">
              <a:buFontTx/>
              <a:buChar char="-"/>
            </a:pPr>
            <a:r>
              <a:rPr lang="en-US" sz="2900" b="1" i="1" dirty="0" smtClean="0">
                <a:latin typeface="Algerian" panose="04020705040A02060702" pitchFamily="82" charset="0"/>
              </a:rPr>
              <a:t>OBJECTIFS</a:t>
            </a:r>
          </a:p>
          <a:p>
            <a:pPr marL="342900" indent="-342900">
              <a:buFontTx/>
              <a:buChar char="-"/>
            </a:pPr>
            <a:r>
              <a:rPr lang="en-US" sz="2900" b="1" i="1" dirty="0" smtClean="0">
                <a:latin typeface="Algerian" panose="04020705040A02060702" pitchFamily="82" charset="0"/>
              </a:rPr>
              <a:t>PUBLIC CIBLE</a:t>
            </a:r>
          </a:p>
          <a:p>
            <a:pPr marL="342900" indent="-342900">
              <a:buFontTx/>
              <a:buChar char="-"/>
            </a:pPr>
            <a:r>
              <a:rPr lang="en-US" sz="2900" b="1" i="1" dirty="0" smtClean="0">
                <a:latin typeface="Algerian" panose="04020705040A02060702" pitchFamily="82" charset="0"/>
              </a:rPr>
              <a:t>CHOIX DE DESIGN</a:t>
            </a:r>
          </a:p>
          <a:p>
            <a:pPr marL="342900" indent="-342900">
              <a:buFontTx/>
              <a:buChar char="-"/>
            </a:pPr>
            <a:r>
              <a:rPr lang="en-US" sz="2900" b="1" i="1" dirty="0" smtClean="0">
                <a:latin typeface="Algerian" panose="04020705040A02060702" pitchFamily="82" charset="0"/>
              </a:rPr>
              <a:t>ARCHITECTURE DU SITE</a:t>
            </a:r>
          </a:p>
          <a:p>
            <a:pPr marL="342900" indent="-342900">
              <a:buFontTx/>
              <a:buChar char="-"/>
            </a:pPr>
            <a:r>
              <a:rPr lang="en-US" sz="2900" b="1" i="1" dirty="0" smtClean="0">
                <a:latin typeface="Algerian" panose="04020705040A02060702" pitchFamily="82" charset="0"/>
              </a:rPr>
              <a:t>POINTS TECHNIQUES</a:t>
            </a:r>
            <a:endParaRPr lang="en-US" sz="2900" b="1" i="1" dirty="0" smtClean="0">
              <a:solidFill>
                <a:schemeClr val="tx1"/>
              </a:solidFill>
              <a:latin typeface="Algerian" panose="04020705040A02060702" pitchFamily="82" charset="0"/>
            </a:endParaRPr>
          </a:p>
          <a:p>
            <a:pPr marL="342900" indent="-342900">
              <a:buFontTx/>
              <a:buChar char="-"/>
            </a:pPr>
            <a:r>
              <a:rPr lang="en-US" sz="2900" b="1" i="1" dirty="0" smtClean="0">
                <a:latin typeface="Algerian" panose="04020705040A02060702" pitchFamily="82" charset="0"/>
              </a:rPr>
              <a:t>GITHUB ET WORKFLOW</a:t>
            </a:r>
          </a:p>
          <a:p>
            <a:pPr marL="342900" indent="-342900">
              <a:buFontTx/>
              <a:buChar char="-"/>
            </a:pPr>
            <a:r>
              <a:rPr lang="en-US" sz="2900" b="1" i="1" dirty="0" smtClean="0">
                <a:latin typeface="Algerian" panose="04020705040A02060702" pitchFamily="82" charset="0"/>
              </a:rPr>
              <a:t>DIFFICULTES RENCONTREES</a:t>
            </a:r>
          </a:p>
          <a:p>
            <a:pPr marL="342900" indent="-342900">
              <a:buFontTx/>
              <a:buChar char="-"/>
            </a:pPr>
            <a:r>
              <a:rPr lang="en-US" sz="2900" b="1" i="1" dirty="0" smtClean="0">
                <a:latin typeface="Algerian" panose="04020705040A02060702" pitchFamily="82" charset="0"/>
              </a:rPr>
              <a:t>RESSOURCES UTILISEES</a:t>
            </a:r>
          </a:p>
          <a:p>
            <a:pPr marL="342900" indent="-342900">
              <a:buFontTx/>
              <a:buChar char="-"/>
            </a:pPr>
            <a:r>
              <a:rPr lang="en-US" sz="2900" b="1" i="1" dirty="0" smtClean="0">
                <a:latin typeface="Algerian" panose="04020705040A02060702" pitchFamily="82" charset="0"/>
              </a:rPr>
              <a:t>DEMONSTRATION</a:t>
            </a:r>
          </a:p>
          <a:p>
            <a:pPr marL="342900" indent="-342900">
              <a:buFontTx/>
              <a:buChar char="-"/>
            </a:pPr>
            <a:r>
              <a:rPr lang="en-US" sz="2900" b="1" i="1" dirty="0" smtClean="0">
                <a:latin typeface="Algerian" panose="04020705040A02060702" pitchFamily="82" charset="0"/>
              </a:rPr>
              <a:t>CONCLUSION</a:t>
            </a:r>
          </a:p>
          <a:p>
            <a:pPr marL="342900" indent="-342900">
              <a:buFontTx/>
              <a:buChar char="-"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11695421"/>
      </p:ext>
    </p:extLst>
  </p:cSld>
  <p:clrMapOvr>
    <a:masterClrMapping/>
  </p:clrMapOvr>
  <p:transition spd="slow" advClick="0" advTm="5000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48411" y="405354"/>
            <a:ext cx="10499039" cy="1800518"/>
          </a:xfrm>
        </p:spPr>
        <p:txBody>
          <a:bodyPr/>
          <a:lstStyle/>
          <a:p>
            <a:r>
              <a:rPr lang="en-US" b="1" i="1" dirty="0" smtClean="0">
                <a:latin typeface="Algerian" panose="04020705040A02060702" pitchFamily="82" charset="0"/>
              </a:rPr>
              <a:t>PRESENTATION DU PROJET</a:t>
            </a:r>
            <a:endParaRPr lang="fr-FR" b="1" i="1" dirty="0">
              <a:latin typeface="Algerian" panose="04020705040A02060702" pitchFamily="82" charset="0"/>
            </a:endParaRP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-94268" y="2592371"/>
            <a:ext cx="11441718" cy="4345758"/>
          </a:xfrm>
        </p:spPr>
        <p:txBody>
          <a:bodyPr>
            <a:normAutofit fontScale="77500" lnSpcReduction="20000"/>
          </a:bodyPr>
          <a:lstStyle/>
          <a:p>
            <a:r>
              <a:rPr lang="en-US" sz="3700" b="1" i="1" u="sng" dirty="0" smtClean="0">
                <a:latin typeface="Algerian" panose="04020705040A02060702" pitchFamily="82" charset="0"/>
              </a:rPr>
              <a:t>CONTEXTE</a:t>
            </a:r>
          </a:p>
          <a:p>
            <a:r>
              <a:rPr lang="en-US" b="1" i="1" dirty="0" smtClean="0">
                <a:latin typeface="Algerian" panose="04020705040A02060702" pitchFamily="82" charset="0"/>
              </a:rPr>
              <a:t>Les talents </a:t>
            </a:r>
            <a:r>
              <a:rPr lang="en-US" b="1" i="1" dirty="0" err="1" smtClean="0">
                <a:latin typeface="Algerian" panose="04020705040A02060702" pitchFamily="82" charset="0"/>
              </a:rPr>
              <a:t>africains</a:t>
            </a:r>
            <a:r>
              <a:rPr lang="en-US" b="1" i="1" dirty="0" smtClean="0">
                <a:latin typeface="Algerian" panose="04020705040A02060702" pitchFamily="82" charset="0"/>
              </a:rPr>
              <a:t> </a:t>
            </a:r>
            <a:r>
              <a:rPr lang="en-US" b="1" i="1" dirty="0" err="1" smtClean="0">
                <a:latin typeface="Algerian" panose="04020705040A02060702" pitchFamily="82" charset="0"/>
              </a:rPr>
              <a:t>manquent</a:t>
            </a:r>
            <a:r>
              <a:rPr lang="en-US" b="1" i="1" dirty="0" smtClean="0">
                <a:latin typeface="Algerian" panose="04020705040A02060702" pitchFamily="82" charset="0"/>
              </a:rPr>
              <a:t> </a:t>
            </a:r>
            <a:r>
              <a:rPr lang="en-US" b="1" i="1" dirty="0" err="1" smtClean="0">
                <a:latin typeface="Algerian" panose="04020705040A02060702" pitchFamily="82" charset="0"/>
              </a:rPr>
              <a:t>parfois</a:t>
            </a:r>
            <a:r>
              <a:rPr lang="en-US" b="1" i="1" dirty="0" smtClean="0">
                <a:latin typeface="Algerian" panose="04020705040A02060702" pitchFamily="82" charset="0"/>
              </a:rPr>
              <a:t> de </a:t>
            </a:r>
            <a:r>
              <a:rPr lang="en-US" b="1" i="1" dirty="0" err="1" smtClean="0">
                <a:latin typeface="Algerian" panose="04020705040A02060702" pitchFamily="82" charset="0"/>
              </a:rPr>
              <a:t>visibilite</a:t>
            </a:r>
            <a:r>
              <a:rPr lang="en-US" b="1" i="1" dirty="0" smtClean="0">
                <a:latin typeface="Algerian" panose="04020705040A02060702" pitchFamily="82" charset="0"/>
              </a:rPr>
              <a:t> sur les </a:t>
            </a:r>
            <a:r>
              <a:rPr lang="en-US" b="1" i="1" dirty="0" err="1" smtClean="0">
                <a:latin typeface="Algerian" panose="04020705040A02060702" pitchFamily="82" charset="0"/>
              </a:rPr>
              <a:t>plateformes</a:t>
            </a:r>
            <a:r>
              <a:rPr lang="en-US" b="1" i="1" dirty="0" smtClean="0">
                <a:latin typeface="Algerian" panose="04020705040A02060702" pitchFamily="82" charset="0"/>
              </a:rPr>
              <a:t> </a:t>
            </a:r>
            <a:r>
              <a:rPr lang="en-US" b="1" i="1" dirty="0" err="1" smtClean="0">
                <a:latin typeface="Algerian" panose="04020705040A02060702" pitchFamily="82" charset="0"/>
              </a:rPr>
              <a:t>internationales</a:t>
            </a:r>
            <a:r>
              <a:rPr lang="en-US" dirty="0" smtClean="0"/>
              <a:t>.</a:t>
            </a:r>
          </a:p>
          <a:p>
            <a:r>
              <a:rPr lang="en-US" sz="3700" b="1" i="1" u="sng" dirty="0" smtClean="0">
                <a:latin typeface="Algerian" panose="04020705040A02060702" pitchFamily="82" charset="0"/>
              </a:rPr>
              <a:t>OBJECTIF</a:t>
            </a:r>
          </a:p>
          <a:p>
            <a:r>
              <a:rPr lang="en-US" b="1" i="1" dirty="0" err="1" smtClean="0">
                <a:latin typeface="Algerian" panose="04020705040A02060702" pitchFamily="82" charset="0"/>
              </a:rPr>
              <a:t>Creer</a:t>
            </a:r>
            <a:r>
              <a:rPr lang="en-US" b="1" i="1" dirty="0" smtClean="0">
                <a:latin typeface="Algerian" panose="04020705040A02060702" pitchFamily="82" charset="0"/>
              </a:rPr>
              <a:t> un site web </a:t>
            </a:r>
            <a:r>
              <a:rPr lang="en-US" b="1" i="1" dirty="0" err="1" smtClean="0">
                <a:latin typeface="Algerian" panose="04020705040A02060702" pitchFamily="82" charset="0"/>
              </a:rPr>
              <a:t>permettant</a:t>
            </a:r>
            <a:r>
              <a:rPr lang="en-US" b="1" i="1" dirty="0" smtClean="0">
                <a:latin typeface="Algerian" panose="04020705040A02060702" pitchFamily="82" charset="0"/>
              </a:rPr>
              <a:t> de presenter , </a:t>
            </a:r>
            <a:r>
              <a:rPr lang="en-US" b="1" i="1" dirty="0" err="1" smtClean="0">
                <a:latin typeface="Algerian" panose="04020705040A02060702" pitchFamily="82" charset="0"/>
              </a:rPr>
              <a:t>promouvoir</a:t>
            </a:r>
            <a:r>
              <a:rPr lang="en-US" b="1" i="1" dirty="0" smtClean="0">
                <a:latin typeface="Algerian" panose="04020705040A02060702" pitchFamily="82" charset="0"/>
              </a:rPr>
              <a:t> et </a:t>
            </a:r>
            <a:r>
              <a:rPr lang="en-US" b="1" i="1" dirty="0" err="1" smtClean="0">
                <a:latin typeface="Algerian" panose="04020705040A02060702" pitchFamily="82" charset="0"/>
              </a:rPr>
              <a:t>decouvrir</a:t>
            </a:r>
            <a:r>
              <a:rPr lang="en-US" b="1" i="1" dirty="0" smtClean="0">
                <a:latin typeface="Algerian" panose="04020705040A02060702" pitchFamily="82" charset="0"/>
              </a:rPr>
              <a:t> des talents </a:t>
            </a:r>
            <a:r>
              <a:rPr lang="en-US" b="1" i="1" dirty="0" err="1" smtClean="0">
                <a:latin typeface="Algerian" panose="04020705040A02060702" pitchFamily="82" charset="0"/>
              </a:rPr>
              <a:t>africains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sz="3700" b="1" i="1" u="sng" dirty="0" smtClean="0">
                <a:latin typeface="Algerian" panose="04020705040A02060702" pitchFamily="82" charset="0"/>
              </a:rPr>
              <a:t>PUBLIC CIBLE</a:t>
            </a:r>
          </a:p>
          <a:p>
            <a:r>
              <a:rPr lang="en-US" sz="3000" b="1" i="1" dirty="0" smtClean="0">
                <a:latin typeface="Algerian" panose="04020705040A02060702" pitchFamily="82" charset="0"/>
              </a:rPr>
              <a:t>Artistes</a:t>
            </a:r>
          </a:p>
          <a:p>
            <a:r>
              <a:rPr lang="en-US" sz="3000" b="1" i="1" dirty="0" err="1" smtClean="0">
                <a:latin typeface="Algerian" panose="04020705040A02060702" pitchFamily="82" charset="0"/>
              </a:rPr>
              <a:t>Developpeurs</a:t>
            </a:r>
            <a:r>
              <a:rPr lang="en-US" sz="3000" b="1" i="1" dirty="0" smtClean="0">
                <a:latin typeface="Algerian" panose="04020705040A02060702" pitchFamily="82" charset="0"/>
              </a:rPr>
              <a:t> </a:t>
            </a:r>
          </a:p>
          <a:p>
            <a:r>
              <a:rPr lang="en-US" sz="3000" b="1" i="1" dirty="0" smtClean="0">
                <a:latin typeface="Algerian" panose="04020705040A02060702" pitchFamily="82" charset="0"/>
              </a:rPr>
              <a:t>Entrepreneurs</a:t>
            </a:r>
          </a:p>
          <a:p>
            <a:r>
              <a:rPr lang="en-US" sz="3000" b="1" i="1" dirty="0" err="1" smtClean="0">
                <a:latin typeface="Algerian" panose="04020705040A02060702" pitchFamily="82" charset="0"/>
              </a:rPr>
              <a:t>Recruteurs</a:t>
            </a:r>
            <a:endParaRPr lang="en-US" sz="3000" b="1" i="1" dirty="0" smtClean="0">
              <a:latin typeface="Algerian" panose="04020705040A02060702" pitchFamily="82" charset="0"/>
            </a:endParaRPr>
          </a:p>
          <a:p>
            <a:r>
              <a:rPr lang="en-US" sz="3000" b="1" i="1" dirty="0" smtClean="0">
                <a:latin typeface="Algerian" panose="04020705040A02060702" pitchFamily="82" charset="0"/>
              </a:rPr>
              <a:t>Grand public</a:t>
            </a:r>
            <a:endParaRPr lang="en-US" sz="3000" b="1" i="1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3206494"/>
      </p:ext>
    </p:extLst>
  </p:cSld>
  <p:clrMapOvr>
    <a:masterClrMapping/>
  </p:clrMapOvr>
  <p:transition spd="slow" advClick="0" advTm="5000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18474" y="358220"/>
            <a:ext cx="10828976" cy="1677970"/>
          </a:xfrm>
        </p:spPr>
        <p:txBody>
          <a:bodyPr/>
          <a:lstStyle/>
          <a:p>
            <a:r>
              <a:rPr lang="en-US" b="1" i="1" u="sng" dirty="0" smtClean="0">
                <a:latin typeface="Algerian" panose="04020705040A02060702" pitchFamily="82" charset="0"/>
              </a:rPr>
              <a:t>CHOIX DE DESIGN</a:t>
            </a:r>
            <a:endParaRPr lang="fr-FR" b="1" i="1" u="sng" dirty="0">
              <a:latin typeface="Algerian" panose="04020705040A02060702" pitchFamily="82" charset="0"/>
            </a:endParaRP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" y="2309567"/>
            <a:ext cx="11347450" cy="3780083"/>
          </a:xfrm>
        </p:spPr>
        <p:txBody>
          <a:bodyPr>
            <a:normAutofit fontScale="85000" lnSpcReduction="20000"/>
          </a:bodyPr>
          <a:lstStyle/>
          <a:p>
            <a:r>
              <a:rPr lang="en-US" b="1" i="1" u="sng" dirty="0" smtClean="0">
                <a:latin typeface="Algerian" panose="04020705040A02060702" pitchFamily="82" charset="0"/>
              </a:rPr>
              <a:t>PALETTE DE COULEURS</a:t>
            </a:r>
          </a:p>
          <a:p>
            <a:pPr marL="342900" indent="-342900">
              <a:buFontTx/>
              <a:buChar char="-"/>
            </a:pPr>
            <a:r>
              <a:rPr lang="en-US" b="1" i="1" dirty="0" smtClean="0">
                <a:latin typeface="Algerian" panose="04020705040A02060702" pitchFamily="82" charset="0"/>
              </a:rPr>
              <a:t>VERT </a:t>
            </a:r>
          </a:p>
          <a:p>
            <a:pPr marL="342900" indent="-342900">
              <a:buFontTx/>
              <a:buChar char="-"/>
            </a:pPr>
            <a:r>
              <a:rPr lang="en-US" b="1" i="1" dirty="0" smtClean="0">
                <a:latin typeface="Algerian" panose="04020705040A02060702" pitchFamily="82" charset="0"/>
              </a:rPr>
              <a:t>NOIR</a:t>
            </a:r>
          </a:p>
          <a:p>
            <a:pPr marL="342900" indent="-342900">
              <a:buFontTx/>
              <a:buChar char="-"/>
            </a:pPr>
            <a:r>
              <a:rPr lang="en-US" b="1" i="1" dirty="0" smtClean="0">
                <a:latin typeface="Algerian" panose="04020705040A02060702" pitchFamily="82" charset="0"/>
              </a:rPr>
              <a:t>BLANC</a:t>
            </a:r>
          </a:p>
          <a:p>
            <a:r>
              <a:rPr lang="en-US" b="1" i="1" u="sng" dirty="0" smtClean="0">
                <a:latin typeface="Algerian" panose="04020705040A02060702" pitchFamily="82" charset="0"/>
              </a:rPr>
              <a:t>TYPOGRAPHIE</a:t>
            </a:r>
          </a:p>
          <a:p>
            <a:pPr marL="342900" indent="-342900">
              <a:buFontTx/>
              <a:buChar char="-"/>
            </a:pPr>
            <a:r>
              <a:rPr lang="en-US" b="1" i="1" dirty="0" smtClean="0">
                <a:latin typeface="Algerian" panose="04020705040A02060702" pitchFamily="82" charset="0"/>
              </a:rPr>
              <a:t>POPPINS</a:t>
            </a:r>
          </a:p>
          <a:p>
            <a:pPr marL="342900" indent="-342900">
              <a:buFontTx/>
              <a:buChar char="-"/>
            </a:pPr>
            <a:r>
              <a:rPr lang="en-US" i="1" dirty="0" smtClean="0">
                <a:latin typeface="Algerian" panose="04020705040A02060702" pitchFamily="82" charset="0"/>
              </a:rPr>
              <a:t>ROBOTO</a:t>
            </a:r>
          </a:p>
          <a:p>
            <a:r>
              <a:rPr lang="en-US" b="1" i="1" u="sng" dirty="0" smtClean="0">
                <a:latin typeface="Algerian" panose="04020705040A02060702" pitchFamily="82" charset="0"/>
              </a:rPr>
              <a:t>INSPIRATIONS</a:t>
            </a:r>
          </a:p>
          <a:p>
            <a:pPr marL="342900" indent="-342900">
              <a:buFontTx/>
              <a:buChar char="-"/>
            </a:pPr>
            <a:r>
              <a:rPr lang="en-US" b="1" i="1" u="sng" dirty="0" smtClean="0">
                <a:latin typeface="Algerian" panose="04020705040A02060702" pitchFamily="82" charset="0"/>
              </a:rPr>
              <a:t>DRIBBLES</a:t>
            </a:r>
          </a:p>
          <a:p>
            <a:pPr marL="342900" indent="-342900">
              <a:buFontTx/>
              <a:buChar char="-"/>
            </a:pPr>
            <a:r>
              <a:rPr lang="en-US" b="1" i="1" u="sng" dirty="0" smtClean="0">
                <a:latin typeface="Algerian" panose="04020705040A02060702" pitchFamily="82" charset="0"/>
              </a:rPr>
              <a:t>AWWARDS</a:t>
            </a:r>
          </a:p>
          <a:p>
            <a:pPr marL="342900" indent="-342900">
              <a:buFontTx/>
              <a:buChar char="-"/>
            </a:pPr>
            <a:r>
              <a:rPr lang="en-US" b="1" i="1" u="sng" dirty="0" smtClean="0">
                <a:latin typeface="Algerian" panose="04020705040A02060702" pitchFamily="82" charset="0"/>
              </a:rPr>
              <a:t>SITES MODERNES ET  PORTFOLIO</a:t>
            </a:r>
          </a:p>
          <a:p>
            <a:endParaRPr lang="fr-FR" b="1" i="1" u="sng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2893543"/>
      </p:ext>
    </p:extLst>
  </p:cSld>
  <p:clrMapOvr>
    <a:masterClrMapping/>
  </p:clrMapOvr>
  <p:transition spd="slow" advClick="0" advTm="5000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35291" y="1709739"/>
            <a:ext cx="10612159" cy="1551936"/>
          </a:xfrm>
        </p:spPr>
        <p:txBody>
          <a:bodyPr/>
          <a:lstStyle/>
          <a:p>
            <a:r>
              <a:rPr lang="en-US" b="1" i="1" u="sng" dirty="0" smtClean="0">
                <a:latin typeface="Algerian" panose="04020705040A02060702" pitchFamily="82" charset="0"/>
              </a:rPr>
              <a:t>ARCHITECTURE DU SITE</a:t>
            </a:r>
            <a:endParaRPr lang="fr-FR" b="1" i="1" u="sng" dirty="0">
              <a:latin typeface="Algerian" panose="04020705040A02060702" pitchFamily="82" charset="0"/>
            </a:endParaRP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35291" y="3827283"/>
            <a:ext cx="10612159" cy="2262368"/>
          </a:xfrm>
        </p:spPr>
        <p:txBody>
          <a:bodyPr/>
          <a:lstStyle/>
          <a:p>
            <a:r>
              <a:rPr lang="en-US" sz="3200" b="1" i="1" u="sng" dirty="0" smtClean="0">
                <a:latin typeface="Algerian" panose="04020705040A02060702" pitchFamily="82" charset="0"/>
              </a:rPr>
              <a:t>ARBORESCENCE:</a:t>
            </a:r>
          </a:p>
          <a:p>
            <a:r>
              <a:rPr lang="en-US" b="1" i="1" u="sng" dirty="0" smtClean="0">
                <a:latin typeface="Algerian" panose="04020705040A02060702" pitchFamily="82" charset="0"/>
              </a:rPr>
              <a:t>ACCEUIL—TALENTS—CATEGORIES—A PROPOS—CONTACT--CONNEXION</a:t>
            </a:r>
            <a:endParaRPr lang="fr-FR" b="1" i="1" u="sng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0091677"/>
      </p:ext>
    </p:extLst>
  </p:cSld>
  <p:clrMapOvr>
    <a:masterClrMapping/>
  </p:clrMapOvr>
  <p:transition spd="slow" advClick="0" advTm="5000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1061742"/>
          </a:xfrm>
        </p:spPr>
        <p:txBody>
          <a:bodyPr/>
          <a:lstStyle/>
          <a:p>
            <a:r>
              <a:rPr lang="en-US" b="1" i="1" u="sng" dirty="0" smtClean="0">
                <a:latin typeface="Algerian" panose="04020705040A02060702" pitchFamily="82" charset="0"/>
              </a:rPr>
              <a:t>PAGES PRINCIPALES</a:t>
            </a:r>
            <a:endParaRPr lang="fr-FR" b="1" i="1" u="sng" dirty="0">
              <a:latin typeface="Algerian" panose="04020705040A02060702" pitchFamily="82" charset="0"/>
            </a:endParaRP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3205113"/>
            <a:ext cx="10515600" cy="2884537"/>
          </a:xfrm>
        </p:spPr>
        <p:txBody>
          <a:bodyPr/>
          <a:lstStyle/>
          <a:p>
            <a:pPr marL="342900" indent="-342900">
              <a:buFontTx/>
              <a:buChar char="-"/>
            </a:pPr>
            <a:r>
              <a:rPr lang="en-US" b="1" i="1" dirty="0" smtClean="0">
                <a:latin typeface="Algerian" panose="04020705040A02060702" pitchFamily="82" charset="0"/>
              </a:rPr>
              <a:t>Pages d’ </a:t>
            </a:r>
            <a:r>
              <a:rPr lang="en-US" b="1" i="1" dirty="0" err="1" smtClean="0">
                <a:latin typeface="Algerian" panose="04020705040A02060702" pitchFamily="82" charset="0"/>
              </a:rPr>
              <a:t>acceuil</a:t>
            </a:r>
            <a:endParaRPr lang="en-US" b="1" i="1" dirty="0" smtClean="0">
              <a:latin typeface="Algerian" panose="04020705040A02060702" pitchFamily="82" charset="0"/>
            </a:endParaRPr>
          </a:p>
          <a:p>
            <a:pPr marL="342900" indent="-342900">
              <a:buFontTx/>
              <a:buChar char="-"/>
            </a:pPr>
            <a:r>
              <a:rPr lang="en-US" b="1" i="1" dirty="0" err="1" smtClean="0">
                <a:latin typeface="Algerian" panose="04020705040A02060702" pitchFamily="82" charset="0"/>
              </a:rPr>
              <a:t>Liste</a:t>
            </a:r>
            <a:r>
              <a:rPr lang="en-US" b="1" i="1" dirty="0" smtClean="0">
                <a:latin typeface="Algerian" panose="04020705040A02060702" pitchFamily="82" charset="0"/>
              </a:rPr>
              <a:t> des talents</a:t>
            </a:r>
            <a:endParaRPr lang="fr-FR" b="1" i="1" dirty="0">
              <a:latin typeface="Algerian" panose="04020705040A02060702" pitchFamily="82" charset="0"/>
            </a:endParaRPr>
          </a:p>
          <a:p>
            <a:pPr marL="342900" indent="-342900">
              <a:buFontTx/>
              <a:buChar char="-"/>
            </a:pPr>
            <a:r>
              <a:rPr lang="en-US" b="1" i="1" dirty="0" err="1" smtClean="0">
                <a:latin typeface="Algerian" panose="04020705040A02060702" pitchFamily="82" charset="0"/>
              </a:rPr>
              <a:t>Profil</a:t>
            </a:r>
            <a:r>
              <a:rPr lang="en-US" b="1" i="1" dirty="0" smtClean="0">
                <a:latin typeface="Algerian" panose="04020705040A02060702" pitchFamily="82" charset="0"/>
              </a:rPr>
              <a:t> d’ un talent</a:t>
            </a:r>
          </a:p>
          <a:p>
            <a:pPr marL="342900" indent="-342900">
              <a:buFontTx/>
              <a:buChar char="-"/>
            </a:pPr>
            <a:r>
              <a:rPr lang="en-US" b="1" i="1" dirty="0" err="1" smtClean="0">
                <a:latin typeface="Algerian" panose="04020705040A02060702" pitchFamily="82" charset="0"/>
              </a:rPr>
              <a:t>Formulaire</a:t>
            </a:r>
            <a:r>
              <a:rPr lang="en-US" b="1" i="1" dirty="0" smtClean="0">
                <a:latin typeface="Algerian" panose="04020705040A02060702" pitchFamily="82" charset="0"/>
              </a:rPr>
              <a:t> de contact</a:t>
            </a:r>
            <a:endParaRPr lang="fr-FR" b="1" i="1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0613797"/>
      </p:ext>
    </p:extLst>
  </p:cSld>
  <p:clrMapOvr>
    <a:masterClrMapping/>
  </p:clrMapOvr>
  <p:transition spd="slow" advClick="0" advTm="5000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 0.033 0.027 0.06 0.06 0.06 C 0.099 0.06 0.113 0.03 0.119 0.012 L 0.125 -0.012 C 0.131 -0.03 0.146 -0.06 0.19 -0.06 C 0.218 -0.06 0.25 -0.033 0.25 0 C 0.25 0.033 0.218 0.06 0.19 0.06 C 0.146 0.06 0.131 0.03 0.125 0.012 L 0.119 -0.012 C 0.113 -0.03 0.099 -0.06 0.06 -0.06 C 0.027 -0.06 0 -0.033 0 0 Z" pathEditMode="relative" ptsTypes="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5864" y="1709739"/>
            <a:ext cx="10621586" cy="1240852"/>
          </a:xfrm>
        </p:spPr>
        <p:txBody>
          <a:bodyPr/>
          <a:lstStyle/>
          <a:p>
            <a:r>
              <a:rPr lang="en-US" b="1" i="1" u="sng" dirty="0" smtClean="0">
                <a:latin typeface="Algerian" panose="04020705040A02060702" pitchFamily="82" charset="0"/>
              </a:rPr>
              <a:t>TECHNOLOGIES UTILISEES</a:t>
            </a:r>
            <a:endParaRPr lang="fr-FR" b="1" i="1" u="sng" dirty="0">
              <a:latin typeface="Algerian" panose="04020705040A02060702" pitchFamily="82" charset="0"/>
            </a:endParaRP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5864" y="3393649"/>
            <a:ext cx="10621586" cy="2696001"/>
          </a:xfrm>
        </p:spPr>
        <p:txBody>
          <a:bodyPr>
            <a:normAutofit fontScale="62500" lnSpcReduction="20000"/>
          </a:bodyPr>
          <a:lstStyle/>
          <a:p>
            <a:r>
              <a:rPr lang="en-US" b="1" i="1" u="sng" dirty="0" smtClean="0">
                <a:latin typeface="Algerian" panose="04020705040A02060702" pitchFamily="82" charset="0"/>
              </a:rPr>
              <a:t>Front-end</a:t>
            </a:r>
          </a:p>
          <a:p>
            <a:pPr marL="342900" indent="-342900">
              <a:buFontTx/>
              <a:buChar char="-"/>
            </a:pPr>
            <a:r>
              <a:rPr lang="en-US" b="1" i="1" u="sng" dirty="0" smtClean="0">
                <a:latin typeface="Algerian" panose="04020705040A02060702" pitchFamily="82" charset="0"/>
              </a:rPr>
              <a:t>HTML 5</a:t>
            </a:r>
          </a:p>
          <a:p>
            <a:pPr marL="342900" indent="-342900">
              <a:buFontTx/>
              <a:buChar char="-"/>
            </a:pPr>
            <a:r>
              <a:rPr lang="en-US" b="1" i="1" u="sng" dirty="0" smtClean="0">
                <a:latin typeface="Algerian" panose="04020705040A02060702" pitchFamily="82" charset="0"/>
              </a:rPr>
              <a:t>CSS 3</a:t>
            </a:r>
          </a:p>
          <a:p>
            <a:pPr marL="342900" indent="-342900">
              <a:buFontTx/>
              <a:buChar char="-"/>
            </a:pPr>
            <a:r>
              <a:rPr lang="en-US" b="1" i="1" u="sng" dirty="0" smtClean="0">
                <a:latin typeface="Algerian" panose="04020705040A02060702" pitchFamily="82" charset="0"/>
              </a:rPr>
              <a:t>BOOTSTRAP 5</a:t>
            </a:r>
          </a:p>
          <a:p>
            <a:pPr marL="342900" indent="-342900">
              <a:buFontTx/>
              <a:buChar char="-"/>
            </a:pPr>
            <a:r>
              <a:rPr lang="en-US" b="1" i="1" u="sng" dirty="0" smtClean="0">
                <a:latin typeface="Algerian" panose="04020705040A02060702" pitchFamily="82" charset="0"/>
              </a:rPr>
              <a:t>JAVASCRIPT</a:t>
            </a:r>
          </a:p>
          <a:p>
            <a:r>
              <a:rPr lang="en-US" b="1" i="1" u="sng" dirty="0" smtClean="0">
                <a:latin typeface="Algerian" panose="04020705040A02060702" pitchFamily="82" charset="0"/>
              </a:rPr>
              <a:t>OUTILS</a:t>
            </a:r>
          </a:p>
          <a:p>
            <a:pPr marL="342900" indent="-342900">
              <a:buFontTx/>
              <a:buChar char="-"/>
            </a:pPr>
            <a:r>
              <a:rPr lang="en-US" b="1" i="1" u="sng" dirty="0" smtClean="0">
                <a:latin typeface="Algerian" panose="04020705040A02060702" pitchFamily="82" charset="0"/>
              </a:rPr>
              <a:t>VS CODE</a:t>
            </a:r>
          </a:p>
          <a:p>
            <a:pPr marL="342900" indent="-342900">
              <a:buFontTx/>
              <a:buChar char="-"/>
            </a:pPr>
            <a:r>
              <a:rPr lang="en-US" b="1" i="1" u="sng" dirty="0" smtClean="0">
                <a:latin typeface="Algerian" panose="04020705040A02060702" pitchFamily="82" charset="0"/>
              </a:rPr>
              <a:t>-GIT</a:t>
            </a:r>
          </a:p>
          <a:p>
            <a:pPr marL="342900" indent="-342900">
              <a:buFontTx/>
              <a:buChar char="-"/>
            </a:pPr>
            <a:r>
              <a:rPr lang="en-US" b="1" i="1" u="sng" dirty="0" smtClean="0">
                <a:latin typeface="Algerian" panose="04020705040A02060702" pitchFamily="82" charset="0"/>
              </a:rPr>
              <a:t>GITHUB</a:t>
            </a:r>
          </a:p>
          <a:p>
            <a:endParaRPr lang="en-US" b="1" i="1" u="sng" dirty="0" smtClean="0">
              <a:latin typeface="Algerian" panose="04020705040A02060702" pitchFamily="82" charset="0"/>
            </a:endParaRPr>
          </a:p>
          <a:p>
            <a:endParaRPr lang="fr-FR" b="1" i="1" u="sng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3530292"/>
      </p:ext>
    </p:extLst>
  </p:cSld>
  <p:clrMapOvr>
    <a:masterClrMapping/>
  </p:clrMapOvr>
  <p:transition spd="slow" advClick="0" advTm="5000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008669"/>
            <a:ext cx="10515600" cy="1480008"/>
          </a:xfrm>
        </p:spPr>
        <p:txBody>
          <a:bodyPr/>
          <a:lstStyle/>
          <a:p>
            <a:r>
              <a:rPr lang="en-US" i="1" u="sng" dirty="0" smtClean="0">
                <a:latin typeface="Algerian" panose="04020705040A02060702" pitchFamily="82" charset="0"/>
              </a:rPr>
              <a:t>POINTS TECHNIQUES</a:t>
            </a:r>
            <a:endParaRPr lang="fr-FR" i="1" u="sng" dirty="0">
              <a:latin typeface="Algerian" panose="04020705040A02060702" pitchFamily="82" charset="0"/>
            </a:endParaRP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3176833"/>
            <a:ext cx="10515600" cy="2912817"/>
          </a:xfrm>
        </p:spPr>
        <p:txBody>
          <a:bodyPr>
            <a:normAutofit/>
          </a:bodyPr>
          <a:lstStyle/>
          <a:p>
            <a:r>
              <a:rPr lang="en-US" b="1" i="1" u="sng" dirty="0" smtClean="0">
                <a:latin typeface="Algerian" panose="04020705040A02060702" pitchFamily="82" charset="0"/>
              </a:rPr>
              <a:t>JAVASCRIPT</a:t>
            </a:r>
          </a:p>
          <a:p>
            <a:pPr marL="342900" indent="-342900">
              <a:buFontTx/>
              <a:buChar char="-"/>
            </a:pPr>
            <a:r>
              <a:rPr lang="en-US" b="1" i="1" dirty="0" smtClean="0">
                <a:latin typeface="Algerian" panose="04020705040A02060702" pitchFamily="82" charset="0"/>
              </a:rPr>
              <a:t>VALIDATION DE FORMULAIRE</a:t>
            </a:r>
          </a:p>
          <a:p>
            <a:pPr marL="342900" indent="-342900">
              <a:buFontTx/>
              <a:buChar char="-"/>
            </a:pPr>
            <a:r>
              <a:rPr lang="en-US" b="1" i="1" dirty="0" smtClean="0">
                <a:latin typeface="Algerian" panose="04020705040A02060702" pitchFamily="82" charset="0"/>
              </a:rPr>
              <a:t>RECHERCHE DYNAMIQUE</a:t>
            </a:r>
          </a:p>
          <a:p>
            <a:pPr marL="342900" indent="-342900">
              <a:buFontTx/>
              <a:buChar char="-"/>
            </a:pPr>
            <a:r>
              <a:rPr lang="en-US" b="1" i="1" dirty="0" smtClean="0">
                <a:latin typeface="Algerian" panose="04020705040A02060702" pitchFamily="82" charset="0"/>
              </a:rPr>
              <a:t>MENU RESPONSIVE</a:t>
            </a:r>
            <a:endParaRPr lang="fr-FR" b="1" i="1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6311987"/>
      </p:ext>
    </p:extLst>
  </p:cSld>
  <p:clrMapOvr>
    <a:masterClrMapping/>
  </p:clrMapOvr>
  <p:transition spd="slow" advClick="0" advTm="5000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78730" y="782425"/>
            <a:ext cx="10668720" cy="1206631"/>
          </a:xfrm>
        </p:spPr>
        <p:txBody>
          <a:bodyPr/>
          <a:lstStyle/>
          <a:p>
            <a:r>
              <a:rPr lang="en-US" i="1" u="sng" dirty="0" smtClean="0">
                <a:latin typeface="Algerian" panose="04020705040A02060702" pitchFamily="82" charset="0"/>
              </a:rPr>
              <a:t>BOOTSTRAP CSS AVANCE</a:t>
            </a:r>
            <a:endParaRPr lang="fr-FR" i="1" u="sng" dirty="0">
              <a:latin typeface="Algerian" panose="04020705040A02060702" pitchFamily="82" charset="0"/>
            </a:endParaRP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78730" y="2196445"/>
            <a:ext cx="10668720" cy="3893206"/>
          </a:xfrm>
        </p:spPr>
        <p:txBody>
          <a:bodyPr>
            <a:normAutofit fontScale="92500" lnSpcReduction="20000"/>
          </a:bodyPr>
          <a:lstStyle/>
          <a:p>
            <a:r>
              <a:rPr lang="en-US" b="1" i="1" u="sng" dirty="0" smtClean="0">
                <a:latin typeface="Algerian" panose="04020705040A02060702" pitchFamily="82" charset="0"/>
              </a:rPr>
              <a:t>BOOTSTRAP</a:t>
            </a:r>
          </a:p>
          <a:p>
            <a:pPr marL="342900" indent="-342900">
              <a:buFontTx/>
              <a:buChar char="-"/>
            </a:pPr>
            <a:r>
              <a:rPr lang="en-US" b="1" i="1" dirty="0" smtClean="0">
                <a:latin typeface="Algerian" panose="04020705040A02060702" pitchFamily="82" charset="0"/>
              </a:rPr>
              <a:t>NAVBAR</a:t>
            </a:r>
          </a:p>
          <a:p>
            <a:pPr marL="342900" indent="-342900">
              <a:buFontTx/>
              <a:buChar char="-"/>
            </a:pPr>
            <a:r>
              <a:rPr lang="en-US" b="1" i="1" dirty="0" smtClean="0">
                <a:latin typeface="Algerian" panose="04020705040A02060702" pitchFamily="82" charset="0"/>
              </a:rPr>
              <a:t>CARDS</a:t>
            </a:r>
          </a:p>
          <a:p>
            <a:pPr marL="342900" indent="-342900">
              <a:buFontTx/>
              <a:buChar char="-"/>
            </a:pPr>
            <a:r>
              <a:rPr lang="en-US" b="1" i="1" dirty="0" smtClean="0">
                <a:latin typeface="Algerian" panose="04020705040A02060702" pitchFamily="82" charset="0"/>
              </a:rPr>
              <a:t>CAROUSEL</a:t>
            </a:r>
          </a:p>
          <a:p>
            <a:pPr marL="342900" indent="-342900">
              <a:buFontTx/>
              <a:buChar char="-"/>
            </a:pPr>
            <a:r>
              <a:rPr lang="en-US" b="1" i="1" dirty="0" smtClean="0">
                <a:latin typeface="Algerian" panose="04020705040A02060702" pitchFamily="82" charset="0"/>
              </a:rPr>
              <a:t>GRID SYSTEM</a:t>
            </a:r>
            <a:endParaRPr lang="fr-FR" b="1" i="1" dirty="0">
              <a:latin typeface="Algerian" panose="04020705040A02060702" pitchFamily="82" charset="0"/>
            </a:endParaRPr>
          </a:p>
          <a:p>
            <a:r>
              <a:rPr lang="en-US" b="1" i="1" u="sng" dirty="0" smtClean="0">
                <a:latin typeface="Algerian" panose="04020705040A02060702" pitchFamily="82" charset="0"/>
              </a:rPr>
              <a:t>CSS</a:t>
            </a:r>
          </a:p>
          <a:p>
            <a:r>
              <a:rPr lang="en-US" b="1" i="1" dirty="0" smtClean="0">
                <a:latin typeface="Algerian" panose="04020705040A02060702" pitchFamily="82" charset="0"/>
              </a:rPr>
              <a:t>- FLEXBOX</a:t>
            </a:r>
          </a:p>
          <a:p>
            <a:r>
              <a:rPr lang="en-US" b="1" i="1" dirty="0" smtClean="0">
                <a:latin typeface="Algerian" panose="04020705040A02060702" pitchFamily="82" charset="0"/>
              </a:rPr>
              <a:t>- GRID</a:t>
            </a:r>
          </a:p>
          <a:p>
            <a:r>
              <a:rPr lang="en-US" b="1" i="1" dirty="0" smtClean="0">
                <a:latin typeface="Algerian" panose="04020705040A02060702" pitchFamily="82" charset="0"/>
              </a:rPr>
              <a:t>- ANIMATIONS</a:t>
            </a:r>
          </a:p>
          <a:p>
            <a:r>
              <a:rPr lang="en-US" b="1" i="1" dirty="0" smtClean="0">
                <a:latin typeface="Algerian" panose="04020705040A02060702" pitchFamily="82" charset="0"/>
              </a:rPr>
              <a:t>- Responsive design</a:t>
            </a:r>
            <a:endParaRPr lang="fr-FR" b="1" i="1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8296664"/>
      </p:ext>
    </p:extLst>
  </p:cSld>
  <p:clrMapOvr>
    <a:masterClrMapping/>
  </p:clrMapOvr>
  <p:transition spd="slow" advClick="0" advTm="5000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816646"/>
          </a:xfrm>
        </p:spPr>
        <p:txBody>
          <a:bodyPr>
            <a:normAutofit fontScale="90000"/>
          </a:bodyPr>
          <a:lstStyle/>
          <a:p>
            <a:r>
              <a:rPr lang="en-US" i="1" u="sng" dirty="0" smtClean="0">
                <a:latin typeface="Algerian" panose="04020705040A02060702" pitchFamily="82" charset="0"/>
              </a:rPr>
              <a:t>GITHUB ET WORKFLOW GIT</a:t>
            </a:r>
            <a:endParaRPr lang="fr-FR" i="1" u="sng" dirty="0">
              <a:latin typeface="Algerian" panose="04020705040A02060702" pitchFamily="82" charset="0"/>
            </a:endParaRP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3054285"/>
            <a:ext cx="10515600" cy="3035365"/>
          </a:xfrm>
        </p:spPr>
        <p:txBody>
          <a:bodyPr>
            <a:normAutofit/>
          </a:bodyPr>
          <a:lstStyle/>
          <a:p>
            <a:r>
              <a:rPr lang="en-US" b="1" i="1" dirty="0" smtClean="0">
                <a:latin typeface="Algerian" panose="04020705040A02060702" pitchFamily="82" charset="0"/>
              </a:rPr>
              <a:t>- INITIALISATION DU DEPOT GIT</a:t>
            </a:r>
            <a:endParaRPr lang="fr-FR" b="1" i="1" dirty="0">
              <a:latin typeface="Algerian" panose="04020705040A02060702" pitchFamily="82" charset="0"/>
            </a:endParaRPr>
          </a:p>
          <a:p>
            <a:pPr marL="342900" indent="-342900">
              <a:buFontTx/>
              <a:buChar char="-"/>
            </a:pPr>
            <a:r>
              <a:rPr lang="en-US" b="1" i="1" dirty="0" smtClean="0">
                <a:latin typeface="Algerian" panose="04020705040A02060702" pitchFamily="82" charset="0"/>
              </a:rPr>
              <a:t>COMMITS REGULIERS</a:t>
            </a:r>
          </a:p>
          <a:p>
            <a:pPr marL="342900" indent="-342900">
              <a:buFontTx/>
              <a:buChar char="-"/>
            </a:pPr>
            <a:r>
              <a:rPr lang="en-US" b="1" i="1" dirty="0" smtClean="0">
                <a:latin typeface="Algerian" panose="04020705040A02060702" pitchFamily="82" charset="0"/>
              </a:rPr>
              <a:t>PUSH VRES GITHUB</a:t>
            </a:r>
          </a:p>
          <a:p>
            <a:pPr marL="342900" indent="-342900">
              <a:buFontTx/>
              <a:buChar char="-"/>
            </a:pPr>
            <a:r>
              <a:rPr lang="en-US" b="1" i="1" dirty="0" smtClean="0">
                <a:latin typeface="Algerian" panose="04020705040A02060702" pitchFamily="82" charset="0"/>
              </a:rPr>
              <a:t>CPTURE D’ ECRAN DU DEPOT GITHUB</a:t>
            </a:r>
          </a:p>
          <a:p>
            <a:pPr marL="342900" indent="-342900">
              <a:buFontTx/>
              <a:buChar char="-"/>
            </a:pPr>
            <a:r>
              <a:rPr lang="en-US" b="1" i="1" dirty="0" smtClean="0">
                <a:latin typeface="Algerian" panose="04020705040A02060702" pitchFamily="82" charset="0"/>
              </a:rPr>
              <a:t>LIEN GITHUB PAGES</a:t>
            </a:r>
            <a:endParaRPr lang="fr-FR" b="1" i="1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9889515"/>
      </p:ext>
    </p:extLst>
  </p:cSld>
  <p:clrMapOvr>
    <a:masterClrMapping/>
  </p:clrMapOvr>
  <p:transition spd="slow" advClick="0" advTm="5000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703524"/>
          </a:xfrm>
        </p:spPr>
        <p:txBody>
          <a:bodyPr>
            <a:normAutofit fontScale="90000"/>
          </a:bodyPr>
          <a:lstStyle/>
          <a:p>
            <a:r>
              <a:rPr lang="en-US" i="1" u="sng" dirty="0" smtClean="0">
                <a:latin typeface="Algerian" panose="04020705040A02060702" pitchFamily="82" charset="0"/>
              </a:rPr>
              <a:t>DIFFICULTES RENCONTREES</a:t>
            </a:r>
            <a:endParaRPr lang="fr-FR" i="1" u="sng" dirty="0">
              <a:latin typeface="Algerian" panose="04020705040A02060702" pitchFamily="82" charset="0"/>
            </a:endParaRP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3016577"/>
            <a:ext cx="10515600" cy="3073073"/>
          </a:xfrm>
        </p:spPr>
        <p:txBody>
          <a:bodyPr>
            <a:normAutofit fontScale="92500" lnSpcReduction="20000"/>
          </a:bodyPr>
          <a:lstStyle/>
          <a:p>
            <a:r>
              <a:rPr lang="en-US" b="1" i="1" u="sng" dirty="0" smtClean="0">
                <a:latin typeface="Algerian" panose="04020705040A02060702" pitchFamily="82" charset="0"/>
              </a:rPr>
              <a:t>DIFFICULTE 1</a:t>
            </a:r>
          </a:p>
          <a:p>
            <a:r>
              <a:rPr lang="en-US" b="1" i="1" dirty="0" smtClean="0">
                <a:latin typeface="Algerian" panose="04020705040A02060702" pitchFamily="82" charset="0"/>
              </a:rPr>
              <a:t>RESPONSIVE DESIGN SUR MOBILE.</a:t>
            </a:r>
            <a:endParaRPr lang="fr-FR" b="1" i="1" dirty="0">
              <a:latin typeface="Algerian" panose="04020705040A02060702" pitchFamily="82" charset="0"/>
            </a:endParaRPr>
          </a:p>
          <a:p>
            <a:r>
              <a:rPr lang="en-US" b="1" i="1" u="sng" dirty="0" smtClean="0">
                <a:latin typeface="Algerian" panose="04020705040A02060702" pitchFamily="82" charset="0"/>
              </a:rPr>
              <a:t>SOLUTION</a:t>
            </a:r>
          </a:p>
          <a:p>
            <a:r>
              <a:rPr lang="en-US" b="1" i="1" dirty="0" smtClean="0">
                <a:latin typeface="Algerian" panose="04020705040A02060702" pitchFamily="82" charset="0"/>
              </a:rPr>
              <a:t>UTILISATION DES CLASSES BUTILIOOTSTRAP ET MEDIAQUERIES.</a:t>
            </a:r>
          </a:p>
          <a:p>
            <a:r>
              <a:rPr lang="en-US" b="1" i="1" u="sng" dirty="0" smtClean="0">
                <a:latin typeface="Algerian" panose="04020705040A02060702" pitchFamily="82" charset="0"/>
              </a:rPr>
              <a:t>DIFFICULTE 2</a:t>
            </a:r>
          </a:p>
          <a:p>
            <a:r>
              <a:rPr lang="en-US" b="1" i="1" dirty="0" smtClean="0">
                <a:latin typeface="Algerian" panose="04020705040A02060702" pitchFamily="82" charset="0"/>
              </a:rPr>
              <a:t>VALIDATION DES FORMULAIRES.</a:t>
            </a:r>
          </a:p>
          <a:p>
            <a:r>
              <a:rPr lang="en-US" b="1" i="1" u="sng" dirty="0" smtClean="0">
                <a:latin typeface="Algerian" panose="04020705040A02060702" pitchFamily="82" charset="0"/>
              </a:rPr>
              <a:t>SOLUTION</a:t>
            </a:r>
          </a:p>
          <a:p>
            <a:r>
              <a:rPr lang="en-US" b="1" i="1" u="sng" dirty="0" smtClean="0">
                <a:latin typeface="Algerian" panose="04020705040A02060702" pitchFamily="82" charset="0"/>
              </a:rPr>
              <a:t>AJOUT DE JAVASCRIPT POUR CONTROLER LES CHAMPS.</a:t>
            </a:r>
          </a:p>
          <a:p>
            <a:endParaRPr lang="fr-FR" b="1" i="1" u="sng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3607597"/>
      </p:ext>
    </p:extLst>
  </p:cSld>
  <p:clrMapOvr>
    <a:masterClrMapping/>
  </p:clrMapOvr>
  <p:transition spd="slow" advClick="0" advTm="5000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4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5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6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8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22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23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4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5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26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4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30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31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32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33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34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4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38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39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40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41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42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4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4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4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4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4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5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4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54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55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56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57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58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4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2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63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64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65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66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1042889"/>
          </a:xfrm>
        </p:spPr>
        <p:txBody>
          <a:bodyPr/>
          <a:lstStyle/>
          <a:p>
            <a:r>
              <a:rPr lang="en-US" b="1" i="1" u="sng" dirty="0" smtClean="0">
                <a:latin typeface="Algerian" panose="04020705040A02060702" pitchFamily="82" charset="0"/>
              </a:rPr>
              <a:t>RESSOURCES UTILISEES</a:t>
            </a:r>
            <a:endParaRPr lang="fr-FR" b="1" i="1" u="sng" dirty="0">
              <a:latin typeface="Algerian" panose="04020705040A02060702" pitchFamily="82" charset="0"/>
            </a:endParaRP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33254" y="3318235"/>
            <a:ext cx="10414196" cy="2771415"/>
          </a:xfrm>
        </p:spPr>
        <p:txBody>
          <a:bodyPr/>
          <a:lstStyle/>
          <a:p>
            <a:pPr marL="342900" indent="-342900">
              <a:buFontTx/>
              <a:buChar char="-"/>
            </a:pPr>
            <a:r>
              <a:rPr lang="en-US" b="1" i="1" dirty="0" smtClean="0">
                <a:latin typeface="Algerian" panose="04020705040A02060702" pitchFamily="82" charset="0"/>
              </a:rPr>
              <a:t>DOCUMENTATION BOOTSTRAP</a:t>
            </a:r>
          </a:p>
          <a:p>
            <a:pPr marL="342900" indent="-342900">
              <a:buFontTx/>
              <a:buChar char="-"/>
            </a:pPr>
            <a:r>
              <a:rPr lang="en-US" b="1" i="1" dirty="0" smtClean="0">
                <a:latin typeface="Algerian" panose="04020705040A02060702" pitchFamily="82" charset="0"/>
              </a:rPr>
              <a:t>MDN WEB DOCS</a:t>
            </a:r>
          </a:p>
          <a:p>
            <a:pPr marL="342900" indent="-342900">
              <a:buFontTx/>
              <a:buChar char="-"/>
            </a:pPr>
            <a:r>
              <a:rPr lang="en-US" b="1" i="1" dirty="0" smtClean="0">
                <a:latin typeface="Algerian" panose="04020705040A02060702" pitchFamily="82" charset="0"/>
              </a:rPr>
              <a:t>GIT DOCUMENTATION</a:t>
            </a:r>
          </a:p>
          <a:p>
            <a:pPr marL="342900" indent="-342900">
              <a:buFontTx/>
              <a:buChar char="-"/>
            </a:pPr>
            <a:r>
              <a:rPr lang="en-US" b="1" i="1" dirty="0" smtClean="0">
                <a:latin typeface="Algerian" panose="04020705040A02060702" pitchFamily="82" charset="0"/>
              </a:rPr>
              <a:t>GITHUB DOCS</a:t>
            </a:r>
          </a:p>
          <a:p>
            <a:pPr marL="342900" indent="-342900">
              <a:buFontTx/>
              <a:buChar char="-"/>
            </a:pPr>
            <a:r>
              <a:rPr lang="en-US" b="1" i="1" dirty="0" smtClean="0">
                <a:latin typeface="Algerian" panose="04020705040A02060702" pitchFamily="82" charset="0"/>
              </a:rPr>
              <a:t>UNSPLASH / PEXELS</a:t>
            </a:r>
          </a:p>
          <a:p>
            <a:pPr marL="342900" indent="-342900">
              <a:buFontTx/>
              <a:buChar char="-"/>
            </a:pPr>
            <a:r>
              <a:rPr lang="en-US" b="1" i="1" dirty="0" smtClean="0">
                <a:latin typeface="Algerian" panose="04020705040A02060702" pitchFamily="82" charset="0"/>
              </a:rPr>
              <a:t>W3C VALIDATOR</a:t>
            </a:r>
          </a:p>
          <a:p>
            <a:pPr marL="342900" indent="-342900">
              <a:buFontTx/>
              <a:buChar char="-"/>
            </a:pPr>
            <a:endParaRPr lang="fr-FR" b="1" i="1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7624440"/>
      </p:ext>
    </p:extLst>
  </p:cSld>
  <p:clrMapOvr>
    <a:masterClrMapping/>
  </p:clrMapOvr>
  <p:transition spd="slow" advClick="0" advTm="5000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0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0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0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0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0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731804"/>
          </a:xfrm>
        </p:spPr>
        <p:txBody>
          <a:bodyPr>
            <a:noAutofit/>
          </a:bodyPr>
          <a:lstStyle/>
          <a:p>
            <a:r>
              <a:rPr lang="en-US" i="1" u="sng" dirty="0" smtClean="0">
                <a:latin typeface="Algerian" panose="04020705040A02060702" pitchFamily="82" charset="0"/>
              </a:rPr>
              <a:t>DEMONSTRATION DU SITE</a:t>
            </a:r>
            <a:endParaRPr lang="fr-FR" i="1" u="sng" dirty="0">
              <a:latin typeface="Algerian" panose="04020705040A02060702" pitchFamily="82" charset="0"/>
            </a:endParaRP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2903457"/>
            <a:ext cx="10515600" cy="3186194"/>
          </a:xfrm>
        </p:spPr>
        <p:txBody>
          <a:bodyPr/>
          <a:lstStyle/>
          <a:p>
            <a:pPr marL="342900" indent="-342900">
              <a:buFontTx/>
              <a:buChar char="-"/>
            </a:pPr>
            <a:r>
              <a:rPr lang="en-US" b="1" i="1" dirty="0" smtClean="0">
                <a:latin typeface="Algerian" panose="04020705040A02060702" pitchFamily="82" charset="0"/>
              </a:rPr>
              <a:t>NAVIGATION</a:t>
            </a:r>
          </a:p>
          <a:p>
            <a:pPr marL="342900" indent="-342900">
              <a:buFontTx/>
              <a:buChar char="-"/>
            </a:pPr>
            <a:r>
              <a:rPr lang="en-US" b="1" i="1" dirty="0" smtClean="0">
                <a:latin typeface="Algerian" panose="04020705040A02060702" pitchFamily="82" charset="0"/>
              </a:rPr>
              <a:t>RECHERCHE</a:t>
            </a:r>
          </a:p>
          <a:p>
            <a:pPr marL="342900" indent="-342900">
              <a:buFontTx/>
              <a:buChar char="-"/>
            </a:pPr>
            <a:r>
              <a:rPr lang="en-US" b="1" i="1" dirty="0" smtClean="0">
                <a:latin typeface="Algerian" panose="04020705040A02060702" pitchFamily="82" charset="0"/>
              </a:rPr>
              <a:t>AFFICHAGE DES TALENTS</a:t>
            </a:r>
            <a:endParaRPr lang="fr-FR" b="1" i="1" dirty="0">
              <a:latin typeface="Algerian" panose="04020705040A02060702" pitchFamily="82" charset="0"/>
            </a:endParaRPr>
          </a:p>
          <a:p>
            <a:pPr marL="342900" indent="-342900">
              <a:buFontTx/>
              <a:buChar char="-"/>
            </a:pPr>
            <a:r>
              <a:rPr lang="en-US" b="1" i="1" dirty="0" smtClean="0">
                <a:latin typeface="Algerian" panose="04020705040A02060702" pitchFamily="82" charset="0"/>
              </a:rPr>
              <a:t>CONTACT</a:t>
            </a:r>
            <a:endParaRPr lang="fr-FR" b="1" i="1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7631975"/>
      </p:ext>
    </p:extLst>
  </p:cSld>
  <p:clrMapOvr>
    <a:masterClrMapping/>
  </p:clrMapOvr>
  <p:transition spd="slow" advClick="0" advTm="5000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1146584"/>
          </a:xfrm>
        </p:spPr>
        <p:txBody>
          <a:bodyPr/>
          <a:lstStyle/>
          <a:p>
            <a:r>
              <a:rPr lang="en-US" b="1" i="1" u="sng" dirty="0" smtClean="0">
                <a:latin typeface="Algerian" panose="04020705040A02060702" pitchFamily="82" charset="0"/>
              </a:rPr>
              <a:t>CONCLUSION</a:t>
            </a:r>
            <a:endParaRPr lang="fr-FR" b="1" i="1" u="sng" dirty="0">
              <a:latin typeface="Algerian" panose="04020705040A02060702" pitchFamily="82" charset="0"/>
            </a:endParaRP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3252247"/>
            <a:ext cx="10515600" cy="2837403"/>
          </a:xfrm>
        </p:spPr>
        <p:txBody>
          <a:bodyPr>
            <a:normAutofit fontScale="70000" lnSpcReduction="20000"/>
          </a:bodyPr>
          <a:lstStyle/>
          <a:p>
            <a:r>
              <a:rPr lang="en-US" b="1" i="1" u="sng" dirty="0" smtClean="0">
                <a:latin typeface="Algerian" panose="04020705040A02060702" pitchFamily="82" charset="0"/>
              </a:rPr>
              <a:t>RESULTATS OBTENUS</a:t>
            </a:r>
          </a:p>
          <a:p>
            <a:r>
              <a:rPr lang="en-US" b="1" i="1" dirty="0" smtClean="0">
                <a:latin typeface="Algerian" panose="04020705040A02060702" pitchFamily="82" charset="0"/>
              </a:rPr>
              <a:t>- SITE FONCTIONNEL</a:t>
            </a:r>
            <a:endParaRPr lang="fr-FR" b="1" i="1" dirty="0">
              <a:latin typeface="Algerian" panose="04020705040A02060702" pitchFamily="82" charset="0"/>
            </a:endParaRPr>
          </a:p>
          <a:p>
            <a:pPr marL="342900" indent="-342900">
              <a:buFontTx/>
              <a:buChar char="-"/>
            </a:pPr>
            <a:r>
              <a:rPr lang="en-US" b="1" i="1" dirty="0" smtClean="0">
                <a:latin typeface="Algerian" panose="04020705040A02060702" pitchFamily="82" charset="0"/>
              </a:rPr>
              <a:t>INTERFACE RESPONSIVE</a:t>
            </a:r>
          </a:p>
          <a:p>
            <a:pPr marL="342900" indent="-342900">
              <a:buFontTx/>
              <a:buChar char="-"/>
            </a:pPr>
            <a:r>
              <a:rPr lang="en-US" b="1" i="1" dirty="0" smtClean="0">
                <a:latin typeface="Algerian" panose="04020705040A02060702" pitchFamily="82" charset="0"/>
              </a:rPr>
              <a:t>UTILISATION DE BOOTSTRAP ET JAVASCRIPT</a:t>
            </a:r>
          </a:p>
          <a:p>
            <a:r>
              <a:rPr lang="en-US" b="1" i="1" u="sng" dirty="0" smtClean="0">
                <a:latin typeface="Algerian" panose="04020705040A02060702" pitchFamily="82" charset="0"/>
              </a:rPr>
              <a:t>COMPETENCES ACQUISES</a:t>
            </a:r>
            <a:endParaRPr lang="fr-FR" b="1" i="1" u="sng" dirty="0" smtClean="0">
              <a:latin typeface="Algerian" panose="04020705040A02060702" pitchFamily="82" charset="0"/>
            </a:endParaRPr>
          </a:p>
          <a:p>
            <a:pPr marL="342900" indent="-342900">
              <a:buFontTx/>
              <a:buChar char="-"/>
            </a:pPr>
            <a:r>
              <a:rPr lang="en-US" b="1" i="1" u="sng" dirty="0" smtClean="0">
                <a:latin typeface="Algerian" panose="04020705040A02060702" pitchFamily="82" charset="0"/>
              </a:rPr>
              <a:t>HTML/CSS</a:t>
            </a:r>
          </a:p>
          <a:p>
            <a:pPr marL="342900" indent="-342900">
              <a:buFontTx/>
              <a:buChar char="-"/>
            </a:pPr>
            <a:r>
              <a:rPr lang="en-US" b="1" i="1" u="sng" dirty="0" smtClean="0">
                <a:latin typeface="Algerian" panose="04020705040A02060702" pitchFamily="82" charset="0"/>
              </a:rPr>
              <a:t>JAVASCRIPT</a:t>
            </a:r>
          </a:p>
          <a:p>
            <a:pPr marL="342900" indent="-342900">
              <a:buFontTx/>
              <a:buChar char="-"/>
            </a:pPr>
            <a:r>
              <a:rPr lang="en-US" b="1" i="1" u="sng" dirty="0" smtClean="0">
                <a:latin typeface="Algerian" panose="04020705040A02060702" pitchFamily="82" charset="0"/>
              </a:rPr>
              <a:t>GIT/GITHUB</a:t>
            </a:r>
          </a:p>
          <a:p>
            <a:pPr marL="342900" indent="-342900">
              <a:buFontTx/>
              <a:buChar char="-"/>
            </a:pPr>
            <a:r>
              <a:rPr lang="en-US" b="1" i="1" u="sng" dirty="0" smtClean="0">
                <a:latin typeface="Algerian" panose="04020705040A02060702" pitchFamily="82" charset="0"/>
              </a:rPr>
              <a:t>RESPONSIVE DESIGN</a:t>
            </a:r>
            <a:endParaRPr lang="fr-FR" b="1" i="1" u="sng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6780801"/>
      </p:ext>
    </p:extLst>
  </p:cSld>
  <p:clrMapOvr>
    <a:masterClrMapping/>
  </p:clrMapOvr>
  <p:transition spd="slow" advClick="0" advTm="5000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63571" y="1709738"/>
            <a:ext cx="10583879" cy="995755"/>
          </a:xfrm>
        </p:spPr>
        <p:txBody>
          <a:bodyPr>
            <a:normAutofit fontScale="90000"/>
          </a:bodyPr>
          <a:lstStyle/>
          <a:p>
            <a:r>
              <a:rPr lang="en-US" b="1" i="1" u="sng" dirty="0" smtClean="0">
                <a:latin typeface="Algerian" panose="04020705040A02060702" pitchFamily="82" charset="0"/>
              </a:rPr>
              <a:t>PERSPECTIVES D’ AMELIORATION</a:t>
            </a:r>
            <a:endParaRPr lang="fr-FR" b="1" i="1" u="sng" dirty="0">
              <a:latin typeface="Algerian" panose="04020705040A02060702" pitchFamily="82" charset="0"/>
            </a:endParaRP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63571" y="3157979"/>
            <a:ext cx="10583879" cy="2931671"/>
          </a:xfrm>
        </p:spPr>
        <p:txBody>
          <a:bodyPr>
            <a:normAutofit lnSpcReduction="10000"/>
          </a:bodyPr>
          <a:lstStyle/>
          <a:p>
            <a:pPr marL="342900" indent="-342900">
              <a:buFontTx/>
              <a:buChar char="-"/>
            </a:pPr>
            <a:r>
              <a:rPr lang="en-US" b="1" i="1" dirty="0" smtClean="0">
                <a:latin typeface="Algerian" panose="04020705040A02060702" pitchFamily="82" charset="0"/>
              </a:rPr>
              <a:t>BASE DE DONNEES</a:t>
            </a:r>
          </a:p>
          <a:p>
            <a:pPr marL="342900" indent="-342900">
              <a:buFontTx/>
              <a:buChar char="-"/>
            </a:pPr>
            <a:r>
              <a:rPr lang="en-US" b="1" i="1" dirty="0" smtClean="0">
                <a:latin typeface="Algerian" panose="04020705040A02060702" pitchFamily="82" charset="0"/>
              </a:rPr>
              <a:t>SYSTEME D’ AUTHENTIFICATION</a:t>
            </a:r>
          </a:p>
          <a:p>
            <a:pPr marL="342900" indent="-342900">
              <a:buFontTx/>
              <a:buChar char="-"/>
            </a:pPr>
            <a:r>
              <a:rPr lang="en-US" b="1" i="1" dirty="0" smtClean="0">
                <a:latin typeface="Algerian" panose="04020705040A02060702" pitchFamily="82" charset="0"/>
              </a:rPr>
              <a:t>ESPACE UTILISATEUR</a:t>
            </a:r>
          </a:p>
          <a:p>
            <a:pPr marL="342900" indent="-342900">
              <a:buFontTx/>
              <a:buChar char="-"/>
            </a:pPr>
            <a:r>
              <a:rPr lang="en-US" b="1" i="1" dirty="0" smtClean="0">
                <a:latin typeface="Algerian" panose="04020705040A02060702" pitchFamily="82" charset="0"/>
              </a:rPr>
              <a:t>API EXTERNE</a:t>
            </a:r>
          </a:p>
          <a:p>
            <a:pPr marL="342900" indent="-342900">
              <a:buFontTx/>
              <a:buChar char="-"/>
            </a:pPr>
            <a:r>
              <a:rPr lang="en-US" b="1" i="1" dirty="0" smtClean="0">
                <a:latin typeface="Algerian" panose="04020705040A02060702" pitchFamily="82" charset="0"/>
              </a:rPr>
              <a:t>TABLEAU DE BORD ADMINISTRATEUR</a:t>
            </a:r>
          </a:p>
          <a:p>
            <a:endParaRPr lang="en-US" b="1" i="1" dirty="0">
              <a:latin typeface="Algerian" panose="04020705040A02060702" pitchFamily="82" charset="0"/>
            </a:endParaRPr>
          </a:p>
          <a:p>
            <a:r>
              <a:rPr lang="en-US" b="1" i="1" dirty="0" smtClean="0">
                <a:latin typeface="Algerian" panose="04020705040A02060702" pitchFamily="82" charset="0"/>
              </a:rPr>
              <a:t>MERCI POUR VOTRE ATTENTION.</a:t>
            </a:r>
            <a:endParaRPr lang="fr-FR" b="1" i="1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5278484"/>
      </p:ext>
    </p:extLst>
  </p:cSld>
  <p:clrMapOvr>
    <a:masterClrMapping/>
  </p:clrMapOvr>
  <p:transition spd="slow" advClick="0" advTm="5000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67 0.04 C 0.081 0.049 0.102 0.054 0.124 0.054 C 0.149 0.054 0.169 0.049 0.183 0.04 L 0.25 0 E" pathEditMode="relative" ptsTypes="">
                                      <p:cBhvr>
                                        <p:cTn id="6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7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67 0.04 C 0.081 0.049 0.102 0.054 0.124 0.054 C 0.149 0.054 0.169 0.049 0.183 0.04 L 0.25 0 E" pathEditMode="relative" ptsTypes="">
                                      <p:cBhvr>
                                        <p:cTn id="10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67 0.04 C 0.081 0.049 0.102 0.054 0.124 0.054 C 0.149 0.054 0.169 0.049 0.183 0.04 L 0.25 0 E" pathEditMode="relative" ptsTypes="">
                                      <p:cBhvr>
                                        <p:cTn id="14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7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67 0.04 C 0.081 0.049 0.102 0.054 0.124 0.054 C 0.149 0.054 0.169 0.049 0.183 0.04 L 0.25 0 E" pathEditMode="relative" ptsTypes="">
                                      <p:cBhvr>
                                        <p:cTn id="18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7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67 0.04 C 0.081 0.049 0.102 0.054 0.124 0.054 C 0.149 0.054 0.169 0.049 0.183 0.04 L 0.25 0 E" pathEditMode="relative" ptsTypes="">
                                      <p:cBhvr>
                                        <p:cTn id="22" dur="2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7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67 0.04 C 0.081 0.049 0.102 0.054 0.124 0.054 C 0.149 0.054 0.169 0.049 0.183 0.04 L 0.25 0 E" pathEditMode="relative" ptsTypes="">
                                      <p:cBhvr>
                                        <p:cTn id="26" dur="2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295</Words>
  <Application>Microsoft Office PowerPoint</Application>
  <PresentationFormat>Grand écran</PresentationFormat>
  <Paragraphs>118</Paragraphs>
  <Slides>15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20" baseType="lpstr">
      <vt:lpstr>Algerian</vt:lpstr>
      <vt:lpstr>Arial</vt:lpstr>
      <vt:lpstr>Calibri</vt:lpstr>
      <vt:lpstr>Calibri Light</vt:lpstr>
      <vt:lpstr>Thème Office</vt:lpstr>
      <vt:lpstr> AFRITALENT </vt:lpstr>
      <vt:lpstr>SOMMAIRE</vt:lpstr>
      <vt:lpstr>PRESENTATION DU PROJET</vt:lpstr>
      <vt:lpstr>CHOIX DE DESIGN</vt:lpstr>
      <vt:lpstr>ARCHITECTURE DU SITE</vt:lpstr>
      <vt:lpstr>PAGES PRINCIPALES</vt:lpstr>
      <vt:lpstr>TECHNOLOGIES UTILISEES</vt:lpstr>
      <vt:lpstr>POINTS TECHNIQUES</vt:lpstr>
      <vt:lpstr>BOOTSTRAP CSS AVANCE</vt:lpstr>
      <vt:lpstr>GITHUB ET WORKFLOW GIT</vt:lpstr>
      <vt:lpstr>DIFFICULTES RENCONTREES</vt:lpstr>
      <vt:lpstr>RESSOURCES UTILISEES</vt:lpstr>
      <vt:lpstr>DEMONSTRATION DU SITE</vt:lpstr>
      <vt:lpstr>CONCLUSION</vt:lpstr>
      <vt:lpstr>PERSPECTIVES D’ AMELIORATION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PAGE DE TITRE</dc:title>
  <dc:creator>X360 1040</dc:creator>
  <cp:lastModifiedBy>X360 1040</cp:lastModifiedBy>
  <cp:revision>15</cp:revision>
  <dcterms:created xsi:type="dcterms:W3CDTF">2026-06-19T10:34:01Z</dcterms:created>
  <dcterms:modified xsi:type="dcterms:W3CDTF">2026-06-23T09:49:10Z</dcterms:modified>
</cp:coreProperties>
</file>